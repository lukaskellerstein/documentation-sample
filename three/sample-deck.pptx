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v2.7 baseline</c:v>
                </c:pt>
              </c:strCache>
            </c:strRef>
          </c:tx>
          <c:spPr>
            <a:solidFill>
              <a:srgbClr val="9FB3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363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Posting, single entry</c:v>
                  </c:pt>
                  <c:pt idx="1">
                    <c:v>Balance read, cold</c:v>
                  </c:pt>
                  <c:pt idx="2">
                    <c:v>Reversal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1420</c:v>
                </c:pt>
                <c:pt idx="1">
                  <c:v>2050</c:v>
                </c:pt>
                <c:pt idx="2">
                  <c:v>880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v3.0 candidate</c:v>
                </c:pt>
              </c:strCache>
            </c:strRef>
          </c:tx>
          <c:spPr>
            <a:solidFill>
              <a:srgbClr val="1451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363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Posting, single entry</c:v>
                  </c:pt>
                  <c:pt idx="1">
                    <c:v>Balance read, cold</c:v>
                  </c:pt>
                  <c:pt idx="2">
                    <c:v>Reversal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3180</c:v>
                </c:pt>
                <c:pt idx="1">
                  <c:v>1780</c:v>
                </c:pt>
                <c:pt idx="2">
                  <c:v>1910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A363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36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00"/>
          <c:min val="0"/>
        </c:scaling>
        <c:delete val="0"/>
        <c:axPos val="l"/>
        <c:majorGridlines>
          <c:spPr>
            <a:ln w="6350" cap="flat">
              <a:solidFill>
                <a:srgbClr val="E2E8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2A363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Mismatched entries per day</c:v>
                </c:pt>
              </c:strCache>
            </c:strRef>
          </c:tx>
          <c:spPr>
            <a:solidFill>
              <a:srgbClr val="14514F"/>
            </a:solidFill>
            <a:ln w="38100" cap="flat">
              <a:solidFill>
                <a:srgbClr val="14514F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4514F"/>
              </a:solidFill>
              <a:ln w="9525" cap="flat">
                <a:solidFill>
                  <a:srgbClr val="14514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Sheet1!$A$2:$A$22</c:f>
              <c:multiLvlStrCache>
                <c:ptCount val="21"/>
                <c:lvl>
                  <c:pt idx="0">
                    <c:v>Day 1</c:v>
                  </c:pt>
                  <c:pt idx="1">
                    <c:v>Day 2</c:v>
                  </c:pt>
                  <c:pt idx="2">
                    <c:v>Day 3</c:v>
                  </c:pt>
                  <c:pt idx="3">
                    <c:v>Day 4</c:v>
                  </c:pt>
                  <c:pt idx="4">
                    <c:v>Day 5</c:v>
                  </c:pt>
                  <c:pt idx="5">
                    <c:v>Day 6</c:v>
                  </c:pt>
                  <c:pt idx="6">
                    <c:v>Day 7</c:v>
                  </c:pt>
                  <c:pt idx="7">
                    <c:v>Day 8</c:v>
                  </c:pt>
                  <c:pt idx="8">
                    <c:v>Day 9</c:v>
                  </c:pt>
                  <c:pt idx="9">
                    <c:v>Day 10</c:v>
                  </c:pt>
                  <c:pt idx="10">
                    <c:v>Day 11</c:v>
                  </c:pt>
                  <c:pt idx="11">
                    <c:v>Day 12</c:v>
                  </c:pt>
                  <c:pt idx="12">
                    <c:v>Day 13</c:v>
                  </c:pt>
                  <c:pt idx="13">
                    <c:v>Day 14</c:v>
                  </c:pt>
                  <c:pt idx="14">
                    <c:v>Day 15</c:v>
                  </c:pt>
                  <c:pt idx="15">
                    <c:v>Day 16</c:v>
                  </c:pt>
                  <c:pt idx="16">
                    <c:v>Day 17</c:v>
                  </c:pt>
                  <c:pt idx="17">
                    <c:v>Day 18</c:v>
                  </c:pt>
                  <c:pt idx="18">
                    <c:v>Day 19</c:v>
                  </c:pt>
                  <c:pt idx="19">
                    <c:v>Day 20</c:v>
                  </c:pt>
                  <c:pt idx="20">
                    <c:v>Day 21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2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  <c:pt idx="7">
                  <c:v>3</c:v>
                </c:pt>
                <c:pt idx="8">
                  <c:v>2</c:v>
                </c:pt>
                <c:pt idx="9">
                  <c:v>3</c:v>
                </c:pt>
                <c:pt idx="10">
                  <c:v>2</c:v>
                </c:pt>
                <c:pt idx="11">
                  <c:v>2</c:v>
                </c:pt>
                <c:pt idx="12">
                  <c:v>1</c:v>
                </c:pt>
                <c:pt idx="13">
                  <c:v>1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6B7A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2E8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Twenty-one days of shadow traffic and a full performance soak. The recommendation is a conditional go: three blockers must close by 25 September.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verdict, then walk the evidence. Sections 2 and 3 are the evidence; 4 to 6 are the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figure is the median of three 45-minute soaks on the same hardware, measured at the load generator.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of four endpoints pass comfortably. The statement endpoint is the only regression, and it has a known cause and a known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cold-read regression is real but expected: the new cache key layout means a flush costs more to recover from. Pre-warming closes most of the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ask. Everything before it is evidence; everything after it is the plan for closing these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blocker has one named owner and one dated exit. If B-2 slips past 18 September the cutover moves to the 26 October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v2.7 rounded once at persist time. v3.0 rounded in the pricing stage and again at the ledger boundary. Two roundings are not one rounding.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R-03, R-05 and R-06 score below 12 and are tracked in the report, not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Payback of 13 months sits inside the platform group's 18-month threshold for infrastructure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comparator runs off the two databases, not off the responses, so a v3.0 timeout still gets compared.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B-2 slips past 18 September the whole plan moves to the 26 October maintenance window. Phase 2 is never shortened.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Sign-off gate is checked immediately before Phase 3. Three of six items are already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runbooks.example.com/ledger/v3-cutove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-1463040"/>
            <a:ext cx="6949440" cy="6949440"/>
          </a:xfrm>
          <a:prstGeom prst="ellipse">
            <a:avLst/>
          </a:prstGeom>
          <a:solidFill>
            <a:srgbClr val="14514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2344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LEDGER SERVICE V3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Readiness Assessment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" y="35204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8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Payments · Platform Engineering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8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PE-RA-2026-014 · Revision C · 21 August 2026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Confidential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6268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1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A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A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against objectives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A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A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blockers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A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payback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A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and recommendation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394960" y="1325880"/>
            <a:ext cx="3200400" cy="2834640"/>
          </a:xfrm>
          <a:prstGeom prst="roundRect">
            <a:avLst>
              <a:gd name="adj" fmla="val 3871"/>
            </a:avLst>
          </a:prstGeom>
          <a:solidFill>
            <a:srgbClr val="14514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0" y="1572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0" y="19202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Conditional go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669280" y="30632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over on 12–13 October, once all three blockers are closed and signed off by 25 September 2026.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6268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Twenty-one days, four numbers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+124%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throughput, single entry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1,420 → 3,180 tps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09160" y="13258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 ms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709160" y="22402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on POST /entries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50 ms objective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85800" y="39319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Mismatches in 412,380,551 entries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them before 3.0.4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30175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−5.7%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709160" y="39319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infrastructure cost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$55,010 → $51,860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6268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1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Latency against objectives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4440"/>
          <a:ext cx="78638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1280160"/>
                <a:gridCol w="128016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1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v2.7 p95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1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v3.0 p95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1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1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1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/entries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5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/accounts/{id}/balance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25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5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/reversals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5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/statements (90-day range)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1,910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A83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2,240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1,500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83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3429000"/>
            <a:ext cx="7863840" cy="1005840"/>
          </a:xfrm>
          <a:prstGeom prst="roundRect">
            <a:avLst>
              <a:gd name="adj" fmla="val 9091"/>
            </a:avLst>
          </a:prstGeom>
          <a:solidFill>
            <a:srgbClr val="F7EFD9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3547872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B-1.  </a:t>
            </a:r>
            <a:pPr indent="0" marL="0">
              <a:buNone/>
            </a:pPr>
            <a:r>
              <a:rPr lang="en-US" sz="1200" dirty="0">
                <a:solidFill>
                  <a:srgbClr val="2A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/statements over 90 days is 17% slower than v2.7 and misses its objective by 740 ms. A query plan diff traced it to a missing covering index on the new partition scheme. The fix is queued for 3.0.5 and must land before Phase 2.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6268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1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Throughput by workload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188720"/>
          <a:ext cx="78638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9028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per second, median of three 45-minute soaks. Batch posting (9,600 → 24,100 tps) and cached balance reads (41,000 → 44,500 tps) are left out so the scale stays readable.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6268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852160" y="-1097280"/>
            <a:ext cx="6583680" cy="6583680"/>
          </a:xfrm>
          <a:prstGeom prst="ellipse">
            <a:avLst/>
          </a:prstGeom>
          <a:solidFill>
            <a:srgbClr val="14514F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43000"/>
            <a:ext cx="5943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blockers stand between us and cutover.</a:t>
            </a:r>
            <a:endParaRPr lang="en-US" sz="3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None is technically hard.</a:t>
            </a:r>
            <a:endParaRPr lang="en-US" sz="3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three are schedule risk.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4069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Recommendations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6268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1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blockers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621792" cy="621792"/>
          </a:xfrm>
          <a:prstGeom prst="ellipse">
            <a:avLst/>
          </a:prstGeom>
          <a:solidFill>
            <a:srgbClr val="14514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716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3258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endpoint misses its objective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4C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covering index in 3.0.5 and re-measure under the same soak.</a:t>
            </a:r>
            <a:endParaRPr lang="en-US" sz="16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Farouk · due 8 September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621792" cy="621792"/>
          </a:xfrm>
          <a:prstGeom prst="ellipse">
            <a:avLst/>
          </a:prstGeom>
          <a:solidFill>
            <a:srgbClr val="14514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4231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designed but never rehearsed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4C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twice against a production-sized dataset and record the wall-clock time.</a:t>
            </a:r>
            <a:endParaRPr lang="en-US" sz="16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Reyes · due 18 September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3474720"/>
            <a:ext cx="621792" cy="621792"/>
          </a:xfrm>
          <a:prstGeom prst="ellipse">
            <a:avLst/>
          </a:prstGeom>
          <a:solidFill>
            <a:srgbClr val="14514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4747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54480" y="34290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game day not yet run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4C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on-call rotation has not used the rewritten runbook without help.</a:t>
            </a:r>
            <a:endParaRPr lang="en-US" sz="16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Okafor · due 25 September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6268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1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Mismatches fell to zero after 3.0.4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188720"/>
          <a:ext cx="5760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188720"/>
            <a:ext cx="192024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12280" y="14173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451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812280" y="237744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mismatches in 412,380,551 entries</a:t>
            </a:r>
            <a:endParaRPr lang="en-US" sz="11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 × 10⁻⁸ of all entries</a:t>
            </a:r>
            <a:endParaRPr lang="en-US" sz="11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on foreign-exchange legs with six or more decimal places. None affected a settled balance.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459028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3.0.4 shipped on day 14 and removed the double-rounding path. Zero mismatches in the final seven days.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6268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that gate the cutover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 likelihood × impact. Anything at 12 or above needs a named owner and a dated mitigation.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2468880" cy="3017520"/>
          </a:xfrm>
          <a:prstGeom prst="roundRect">
            <a:avLst>
              <a:gd name="adj" fmla="val 4444"/>
            </a:avLst>
          </a:prstGeom>
          <a:solidFill>
            <a:srgbClr val="1A403D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664208"/>
            <a:ext cx="9144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10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R-02  ·  score 15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121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Dual-write drift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265176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diverge while both systems are written to during the cutover window.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8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writes for 90 s, reconcile before opening traffic.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Reyes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29000" y="1417320"/>
            <a:ext cx="2468880" cy="3017520"/>
          </a:xfrm>
          <a:prstGeom prst="roundRect">
            <a:avLst>
              <a:gd name="adj" fmla="val 4444"/>
            </a:avLst>
          </a:prstGeom>
          <a:solidFill>
            <a:srgbClr val="1A403D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0" y="1664208"/>
            <a:ext cx="9144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810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R-04  ·  score 15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0" y="2121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Rollback exceeds RTO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57600" y="265176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to v2.7 takes longer than the 30-minute recovery objective.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8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twice. Keep v2.7 warm for 14 days.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Reyes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1417320"/>
            <a:ext cx="2468880" cy="3017520"/>
          </a:xfrm>
          <a:prstGeom prst="roundRect">
            <a:avLst>
              <a:gd name="adj" fmla="val 4444"/>
            </a:avLst>
          </a:prstGeom>
          <a:solidFill>
            <a:srgbClr val="1A403D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664208"/>
            <a:ext cx="9144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810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R-01  ·  score 12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2121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Statement SLO miss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0" y="265176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90-day statement query stays above its 1,500 ms objective.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8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index in 3.0.5, before Phase 2.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Farouk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6268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1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and payback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4440"/>
          <a:ext cx="534924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109728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1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v2.7 / 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1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v3.0 / 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1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1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— API 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$11,900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45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−$6,500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— worker 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$8,900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+$1,650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PostgreSQL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cache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+$1,300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storage and egress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B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$55,010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B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$51,860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B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A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−$3,150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BE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355080" y="1234440"/>
            <a:ext cx="2240280" cy="1325880"/>
          </a:xfrm>
          <a:prstGeom prst="roundRect">
            <a:avLst>
              <a:gd name="adj" fmla="val 8276"/>
            </a:avLst>
          </a:prstGeom>
          <a:solidFill>
            <a:srgbClr val="14514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37960" y="13716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−$3,150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537960" y="19842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every month at today's volume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55080" y="2743200"/>
            <a:ext cx="22402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37960" y="28803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1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13.0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6537960" y="34930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to pay back 6.5 engineer-weeks of migration work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355080" y="4114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22% volume growth Finance forecasts, the saving widens to about $4,900 a month.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48640" y="459028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monthly infrastructure cost at current production volume. Volume held constant.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6268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1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parity was proved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live request was copied to v3.0. Its response was thrown away; only the resulting ledger entries were compared.</a:t>
            </a:r>
            <a:endParaRPr lang="en-US" sz="1250" dirty="0"/>
          </a:p>
        </p:txBody>
      </p:sp>
      <p:pic>
        <p:nvPicPr>
          <p:cNvPr id="6" name="Image 0" descr="Live traffic reaches the API gateway, which serves from Ledger v2.7 and sends a shadow copy to Ledger v3.0. Each writes to its own Postgres, and a comparator checks the two entry by entry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" y="1691640"/>
            <a:ext cx="8503920" cy="15836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703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Twenty-one consecutive days at 100% of production volume. </a:t>
            </a:r>
            <a:pPr indent="0" marL="0">
              <a:buNone/>
            </a:pPr>
            <a:r>
              <a:rPr lang="en-US" sz="1300" b="1" dirty="0">
                <a:solidFill>
                  <a:srgbClr val="145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ever saw a v3.0 response.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59028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topology, September 2026. Diagram rendered from Mermaid source.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6268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cutover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34440" y="2148840"/>
            <a:ext cx="6858000" cy="0"/>
          </a:xfrm>
          <a:prstGeom prst="line">
            <a:avLst/>
          </a:prstGeom>
          <a:noFill/>
          <a:ln w="25400">
            <a:solidFill>
              <a:srgbClr val="3A5C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984" y="1929384"/>
            <a:ext cx="438912" cy="438912"/>
          </a:xfrm>
          <a:prstGeom prst="ellipse">
            <a:avLst/>
          </a:prstGeom>
          <a:solidFill>
            <a:srgbClr val="14514F"/>
          </a:solidFill>
          <a:ln w="25400">
            <a:solidFill>
              <a:srgbClr val="3A5C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1–11 Sep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3288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Prep, freeze,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deploy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29484" y="1929384"/>
            <a:ext cx="438912" cy="438912"/>
          </a:xfrm>
          <a:prstGeom prst="ellipse">
            <a:avLst/>
          </a:prstGeom>
          <a:solidFill>
            <a:srgbClr val="14514F"/>
          </a:solidFill>
          <a:ln w="25400">
            <a:solidFill>
              <a:srgbClr val="3A5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9484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7170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14–25 Sep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71700" y="253288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traffic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100%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43984" y="1929384"/>
            <a:ext cx="438912" cy="438912"/>
          </a:xfrm>
          <a:prstGeom prst="ellipse">
            <a:avLst/>
          </a:prstGeom>
          <a:solidFill>
            <a:srgbClr val="14514F"/>
          </a:solidFill>
          <a:ln w="25400">
            <a:solidFill>
              <a:srgbClr val="3A5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3984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8620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Sep – 9 Oct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86200" y="253288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→ 25%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58484" y="1929384"/>
            <a:ext cx="438912" cy="438912"/>
          </a:xfrm>
          <a:prstGeom prst="ellipse">
            <a:avLst/>
          </a:prstGeom>
          <a:solidFill>
            <a:srgbClr val="C9A227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58484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0070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12–13 Oct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00700" y="253288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cutover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72984" y="1929384"/>
            <a:ext cx="438912" cy="438912"/>
          </a:xfrm>
          <a:prstGeom prst="ellipse">
            <a:avLst/>
          </a:prstGeom>
          <a:solidFill>
            <a:srgbClr val="14514F"/>
          </a:solidFill>
          <a:ln w="25400">
            <a:solidFill>
              <a:srgbClr val="3A5C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72984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Oct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253288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3977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has a single, testable exit criterion. Phase 2 exists to catch slow-burning divergence, so it is not compressed if an earlier phase slips.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-1463040"/>
            <a:ext cx="6949440" cy="6949440"/>
          </a:xfrm>
          <a:prstGeom prst="ellipse">
            <a:avLst/>
          </a:prstGeom>
          <a:solidFill>
            <a:srgbClr val="14514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CONDITIONAL GO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85800" y="24231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B-1, B-2 and B-3 by 25 September 2026, then cut over on 12–13 October.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35204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8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Reyes (lead) · M. Farouk · J. Lindqvist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R. Halversen, VP Engineering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u="sng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Ledger v3 cutover runboo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Cutover runbook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Northwind Payments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Ledger Service v3 — Migration Readiness</dc:title>
  <dc:subject>PE-RA-2026-014 Rev. C</dc:subject>
  <dc:creator>Platform Engineering, Northwind Payments</dc:creator>
  <cp:lastModifiedBy>Platform Engineering, Northwind Payments</cp:lastModifiedBy>
  <cp:revision>1</cp:revision>
  <dcterms:created xsi:type="dcterms:W3CDTF">2026-08-26T21:23:16Z</dcterms:created>
  <dcterms:modified xsi:type="dcterms:W3CDTF">2026-08-26T21:23:16Z</dcterms:modified>
</cp:coreProperties>
</file>